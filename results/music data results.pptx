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lack Mango" panose="020B0604020202020204" charset="0"/>
      <p:regular r:id="rId13"/>
    </p:embeddedFon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1" d="100"/>
          <a:sy n="31" d="100"/>
        </p:scale>
        <p:origin x="104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 Varkey" userId="e300bc245473d31e" providerId="LiveId" clId="{29ECD764-D65E-4088-B9ED-32467E6E1B16}"/>
    <pc:docChg chg="modSld">
      <pc:chgData name="Suja Varkey" userId="e300bc245473d31e" providerId="LiveId" clId="{29ECD764-D65E-4088-B9ED-32467E6E1B16}" dt="2026-08-28T10:09:25.248" v="56" actId="14100"/>
      <pc:docMkLst>
        <pc:docMk/>
      </pc:docMkLst>
      <pc:sldChg chg="modSp mod">
        <pc:chgData name="Suja Varkey" userId="e300bc245473d31e" providerId="LiveId" clId="{29ECD764-D65E-4088-B9ED-32467E6E1B16}" dt="2026-08-28T10:09:25.248" v="56" actId="14100"/>
        <pc:sldMkLst>
          <pc:docMk/>
          <pc:sldMk cId="0" sldId="256"/>
        </pc:sldMkLst>
        <pc:spChg chg="mod">
          <ac:chgData name="Suja Varkey" userId="e300bc245473d31e" providerId="LiveId" clId="{29ECD764-D65E-4088-B9ED-32467E6E1B16}" dt="2026-08-28T10:09:25.248" v="56" actId="14100"/>
          <ac:spMkLst>
            <pc:docMk/>
            <pc:sldMk cId="0" sldId="256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4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2.png"/><Relationship Id="rId4" Type="http://schemas.openxmlformats.org/officeDocument/2006/relationships/oleObject" Target="../embeddings/oleObject10.bin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0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38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1028700"/>
            <a:ext cx="1028700" cy="8205788"/>
            <a:chOff x="0" y="0"/>
            <a:chExt cx="270933" cy="21611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161195"/>
            </a:xfrm>
            <a:custGeom>
              <a:avLst/>
              <a:gdLst/>
              <a:ahLst/>
              <a:cxnLst/>
              <a:rect l="l" t="t" r="r" b="b"/>
              <a:pathLst>
                <a:path w="270933" h="2161195">
                  <a:moveTo>
                    <a:pt x="0" y="0"/>
                  </a:moveTo>
                  <a:lnTo>
                    <a:pt x="270933" y="0"/>
                  </a:lnTo>
                  <a:lnTo>
                    <a:pt x="270933" y="2161195"/>
                  </a:lnTo>
                  <a:lnTo>
                    <a:pt x="0" y="2161195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3802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0" y="5501077"/>
            <a:ext cx="172593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Box 7"/>
          <p:cNvSpPr txBox="1"/>
          <p:nvPr/>
        </p:nvSpPr>
        <p:spPr>
          <a:xfrm>
            <a:off x="7590333" y="5729846"/>
            <a:ext cx="4659327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 b="1">
                <a:solidFill>
                  <a:srgbClr val="7D654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Alona Reji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3266" y="1015182"/>
            <a:ext cx="15982134" cy="3825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5367"/>
              </a:lnSpc>
              <a:spcBef>
                <a:spcPct val="0"/>
              </a:spcBef>
            </a:pPr>
            <a:r>
              <a:rPr lang="en-US" sz="9600" dirty="0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Analysis on Genre </a:t>
            </a:r>
          </a:p>
          <a:p>
            <a:pPr marL="0" lvl="0" indent="0" algn="l">
              <a:lnSpc>
                <a:spcPts val="15367"/>
              </a:lnSpc>
              <a:spcBef>
                <a:spcPct val="0"/>
              </a:spcBef>
            </a:pPr>
            <a:r>
              <a:rPr lang="en-US" sz="9600" dirty="0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Preferences by 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101" y="0"/>
            <a:ext cx="237899" cy="9234488"/>
            <a:chOff x="0" y="0"/>
            <a:chExt cx="62657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57" cy="2432128"/>
            </a:xfrm>
            <a:custGeom>
              <a:avLst/>
              <a:gdLst/>
              <a:ahLst/>
              <a:cxnLst/>
              <a:rect l="l" t="t" r="r" b="b"/>
              <a:pathLst>
                <a:path w="62657" h="2432128">
                  <a:moveTo>
                    <a:pt x="0" y="0"/>
                  </a:moveTo>
                  <a:lnTo>
                    <a:pt x="62657" y="0"/>
                  </a:lnTo>
                  <a:lnTo>
                    <a:pt x="62657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62657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6213070" y="474535"/>
            <a:ext cx="7312749" cy="4563147"/>
          </a:xfrm>
          <a:custGeom>
            <a:avLst/>
            <a:gdLst/>
            <a:ahLst/>
            <a:cxnLst/>
            <a:rect l="l" t="t" r="r" b="b"/>
            <a:pathLst>
              <a:path w="7312749" h="4563147">
                <a:moveTo>
                  <a:pt x="0" y="0"/>
                </a:moveTo>
                <a:lnTo>
                  <a:pt x="7312749" y="0"/>
                </a:lnTo>
                <a:lnTo>
                  <a:pt x="7312749" y="4563147"/>
                </a:lnTo>
                <a:lnTo>
                  <a:pt x="0" y="4563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38" r="-1838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0" y="-89914"/>
            <a:ext cx="6211923" cy="4605674"/>
          </a:xfrm>
          <a:custGeom>
            <a:avLst/>
            <a:gdLst/>
            <a:ahLst/>
            <a:cxnLst/>
            <a:rect l="l" t="t" r="r" b="b"/>
            <a:pathLst>
              <a:path w="6211923" h="4605674">
                <a:moveTo>
                  <a:pt x="0" y="0"/>
                </a:moveTo>
                <a:lnTo>
                  <a:pt x="6211923" y="0"/>
                </a:lnTo>
                <a:lnTo>
                  <a:pt x="6211923" y="4605674"/>
                </a:lnTo>
                <a:lnTo>
                  <a:pt x="0" y="4605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7" r="-2660" b="-2203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0" y="4515760"/>
            <a:ext cx="7850627" cy="4718728"/>
          </a:xfrm>
          <a:custGeom>
            <a:avLst/>
            <a:gdLst/>
            <a:ahLst/>
            <a:cxnLst/>
            <a:rect l="l" t="t" r="r" b="b"/>
            <a:pathLst>
              <a:path w="7850627" h="4718728">
                <a:moveTo>
                  <a:pt x="0" y="0"/>
                </a:moveTo>
                <a:lnTo>
                  <a:pt x="7850627" y="0"/>
                </a:lnTo>
                <a:lnTo>
                  <a:pt x="7850627" y="4718728"/>
                </a:lnTo>
                <a:lnTo>
                  <a:pt x="0" y="47187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7850627" y="5018028"/>
            <a:ext cx="7014994" cy="4216459"/>
          </a:xfrm>
          <a:custGeom>
            <a:avLst/>
            <a:gdLst/>
            <a:ahLst/>
            <a:cxnLst/>
            <a:rect l="l" t="t" r="r" b="b"/>
            <a:pathLst>
              <a:path w="7014994" h="4216459">
                <a:moveTo>
                  <a:pt x="0" y="0"/>
                </a:moveTo>
                <a:lnTo>
                  <a:pt x="7014994" y="0"/>
                </a:lnTo>
                <a:lnTo>
                  <a:pt x="7014994" y="4216459"/>
                </a:lnTo>
                <a:lnTo>
                  <a:pt x="0" y="42164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TextBox 10"/>
          <p:cNvSpPr txBox="1"/>
          <p:nvPr/>
        </p:nvSpPr>
        <p:spPr>
          <a:xfrm>
            <a:off x="13620517" y="123825"/>
            <a:ext cx="6617650" cy="82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239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Non Adults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620517" y="1058185"/>
            <a:ext cx="4910060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streamed platform:Spotify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streamed platform:Pandora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Mostly preferred while working:Yes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hrs spend:2hrs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preffered genre:Rock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preffered genre:Latin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 u="none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(Gospel-none)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9234488"/>
            <a:chOff x="0" y="0"/>
            <a:chExt cx="270933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432128"/>
            </a:xfrm>
            <a:custGeom>
              <a:avLst/>
              <a:gdLst/>
              <a:ahLst/>
              <a:cxnLst/>
              <a:rect l="l" t="t" r="r" b="b"/>
              <a:pathLst>
                <a:path w="270933" h="2432128">
                  <a:moveTo>
                    <a:pt x="0" y="0"/>
                  </a:moveTo>
                  <a:lnTo>
                    <a:pt x="270933" y="0"/>
                  </a:lnTo>
                  <a:lnTo>
                    <a:pt x="270933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514762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 flipV="1">
            <a:off x="9139238" y="2545713"/>
            <a:ext cx="8054032" cy="1214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TextBox 7"/>
          <p:cNvSpPr txBox="1"/>
          <p:nvPr/>
        </p:nvSpPr>
        <p:spPr>
          <a:xfrm>
            <a:off x="1654083" y="6153150"/>
            <a:ext cx="1754273" cy="349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199">
                <a:solidFill>
                  <a:srgbClr val="000000"/>
                </a:solidFill>
                <a:latin typeface="Black Mango"/>
                <a:ea typeface="Black Mango"/>
                <a:cs typeface="Black Mango"/>
                <a:sym typeface="Black Mango"/>
              </a:rPr>
              <a:t>Overview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9139238" y="0"/>
            <a:ext cx="4762" cy="951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9" name="Object 9"/>
          <p:cNvGraphicFramePr/>
          <p:nvPr/>
        </p:nvGraphicFramePr>
        <p:xfrm>
          <a:off x="4784417" y="492677"/>
          <a:ext cx="340042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076700" imgH="3606800" progId="Excel.Sheet.12">
                  <p:embed/>
                </p:oleObj>
              </mc:Choice>
              <mc:Fallback>
                <p:oleObj name="Worksheet" r:id="rId2" imgW="4076700" imgH="36068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4417" y="492677"/>
                        <a:ext cx="3400425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1659077" y="778510"/>
          <a:ext cx="284797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416300" imgH="1828800" progId="Excel.Sheet.12">
                  <p:embed/>
                </p:oleObj>
              </mc:Choice>
              <mc:Fallback>
                <p:oleObj name="Worksheet" r:id="rId4" imgW="3416300" imgH="18288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659077" y="778510"/>
                        <a:ext cx="2847975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1187487" y="2819400"/>
          <a:ext cx="2838450" cy="670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178300" imgH="8039100" progId="Excel.Sheet.12">
                  <p:embed/>
                </p:oleObj>
              </mc:Choice>
              <mc:Fallback>
                <p:oleObj name="Worksheet" r:id="rId6" imgW="4178300" imgH="8039100" progId="Excel.Sheet.12">
                  <p:embed/>
                  <p:pic>
                    <p:nvPicPr>
                      <p:cNvPr id="11" name="Object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87487" y="2819400"/>
                        <a:ext cx="2838450" cy="670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/>
          <p:nvPr/>
        </p:nvGraphicFramePr>
        <p:xfrm>
          <a:off x="750008" y="2689372"/>
          <a:ext cx="2847975" cy="754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4343400" imgH="9042400" progId="Excel.Sheet.12">
                  <p:embed/>
                </p:oleObj>
              </mc:Choice>
              <mc:Fallback>
                <p:oleObj name="Worksheet" r:id="rId8" imgW="4343400" imgH="9042400" progId="Excel.Sheet.12">
                  <p:embed/>
                  <p:pic>
                    <p:nvPicPr>
                      <p:cNvPr id="12" name="Object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50008" y="2689372"/>
                        <a:ext cx="2847975" cy="754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101" y="0"/>
            <a:ext cx="237899" cy="9234488"/>
            <a:chOff x="0" y="0"/>
            <a:chExt cx="62657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57" cy="2432128"/>
            </a:xfrm>
            <a:custGeom>
              <a:avLst/>
              <a:gdLst/>
              <a:ahLst/>
              <a:cxnLst/>
              <a:rect l="l" t="t" r="r" b="b"/>
              <a:pathLst>
                <a:path w="62657" h="2432128">
                  <a:moveTo>
                    <a:pt x="0" y="0"/>
                  </a:moveTo>
                  <a:lnTo>
                    <a:pt x="62657" y="0"/>
                  </a:lnTo>
                  <a:lnTo>
                    <a:pt x="62657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62657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7386185" y="4794919"/>
            <a:ext cx="7415928" cy="4463381"/>
          </a:xfrm>
          <a:custGeom>
            <a:avLst/>
            <a:gdLst/>
            <a:ahLst/>
            <a:cxnLst/>
            <a:rect l="l" t="t" r="r" b="b"/>
            <a:pathLst>
              <a:path w="7415928" h="4463381">
                <a:moveTo>
                  <a:pt x="0" y="0"/>
                </a:moveTo>
                <a:lnTo>
                  <a:pt x="7415928" y="0"/>
                </a:lnTo>
                <a:lnTo>
                  <a:pt x="7415928" y="4463381"/>
                </a:lnTo>
                <a:lnTo>
                  <a:pt x="0" y="4463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0" y="573198"/>
            <a:ext cx="7023748" cy="4221721"/>
          </a:xfrm>
          <a:custGeom>
            <a:avLst/>
            <a:gdLst/>
            <a:ahLst/>
            <a:cxnLst/>
            <a:rect l="l" t="t" r="r" b="b"/>
            <a:pathLst>
              <a:path w="7023748" h="4221721">
                <a:moveTo>
                  <a:pt x="0" y="0"/>
                </a:moveTo>
                <a:lnTo>
                  <a:pt x="7023748" y="0"/>
                </a:lnTo>
                <a:lnTo>
                  <a:pt x="7023748" y="4221721"/>
                </a:lnTo>
                <a:lnTo>
                  <a:pt x="0" y="422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0" y="4794919"/>
            <a:ext cx="7386185" cy="4439569"/>
          </a:xfrm>
          <a:custGeom>
            <a:avLst/>
            <a:gdLst/>
            <a:ahLst/>
            <a:cxnLst/>
            <a:rect l="l" t="t" r="r" b="b"/>
            <a:pathLst>
              <a:path w="7386185" h="4439569">
                <a:moveTo>
                  <a:pt x="0" y="0"/>
                </a:moveTo>
                <a:lnTo>
                  <a:pt x="7386185" y="0"/>
                </a:lnTo>
                <a:lnTo>
                  <a:pt x="7386185" y="4439569"/>
                </a:lnTo>
                <a:lnTo>
                  <a:pt x="0" y="4439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7023748" y="837502"/>
            <a:ext cx="6584021" cy="3957417"/>
          </a:xfrm>
          <a:custGeom>
            <a:avLst/>
            <a:gdLst/>
            <a:ahLst/>
            <a:cxnLst/>
            <a:rect l="l" t="t" r="r" b="b"/>
            <a:pathLst>
              <a:path w="6584021" h="3957417">
                <a:moveTo>
                  <a:pt x="0" y="0"/>
                </a:moveTo>
                <a:lnTo>
                  <a:pt x="6584021" y="0"/>
                </a:lnTo>
                <a:lnTo>
                  <a:pt x="6584021" y="3957417"/>
                </a:lnTo>
                <a:lnTo>
                  <a:pt x="0" y="39574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TextBox 10"/>
          <p:cNvSpPr txBox="1"/>
          <p:nvPr/>
        </p:nvSpPr>
        <p:spPr>
          <a:xfrm>
            <a:off x="13620517" y="123825"/>
            <a:ext cx="6617650" cy="82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239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Young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28071" y="1179108"/>
            <a:ext cx="4201728" cy="295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streamed platform:Spotify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streamed platform:Pandora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Mostly preferred while working:Yes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hrs spend:2hrs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preffered genre:Rock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preffered genre:Latin and Gospel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9234488"/>
            <a:chOff x="0" y="0"/>
            <a:chExt cx="270933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432128"/>
            </a:xfrm>
            <a:custGeom>
              <a:avLst/>
              <a:gdLst/>
              <a:ahLst/>
              <a:cxnLst/>
              <a:rect l="l" t="t" r="r" b="b"/>
              <a:pathLst>
                <a:path w="270933" h="2432128">
                  <a:moveTo>
                    <a:pt x="0" y="0"/>
                  </a:moveTo>
                  <a:lnTo>
                    <a:pt x="270933" y="0"/>
                  </a:lnTo>
                  <a:lnTo>
                    <a:pt x="270933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781671"/>
            <a:ext cx="18438002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9144000" y="2238806"/>
            <a:ext cx="804927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 flipH="1" flipV="1">
            <a:off x="9139238" y="0"/>
            <a:ext cx="4762" cy="978167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8" name="Object 8"/>
          <p:cNvGraphicFramePr/>
          <p:nvPr/>
        </p:nvGraphicFramePr>
        <p:xfrm>
          <a:off x="4579345" y="2945713"/>
          <a:ext cx="31146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733800" imgH="3543300" progId="Excel.Sheet.12">
                  <p:embed/>
                </p:oleObj>
              </mc:Choice>
              <mc:Fallback>
                <p:oleObj name="Worksheet" r:id="rId2" imgW="3733800" imgH="3543300" progId="Excel.Sheet.12">
                  <p:embed/>
                  <p:pic>
                    <p:nvPicPr>
                      <p:cNvPr id="8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79345" y="2945713"/>
                        <a:ext cx="3114675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2418726" y="396995"/>
          <a:ext cx="2562225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73400" imgH="1765300" progId="Excel.Sheet.12">
                  <p:embed/>
                </p:oleObj>
              </mc:Choice>
              <mc:Fallback>
                <p:oleObj name="Worksheet" r:id="rId4" imgW="3073400" imgH="17653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418726" y="396995"/>
                        <a:ext cx="2562225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987809" y="396995"/>
          <a:ext cx="2562225" cy="1047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4648200" imgH="12573000" progId="Excel.Sheet.12">
                  <p:embed/>
                </p:oleObj>
              </mc:Choice>
              <mc:Fallback>
                <p:oleObj name="Worksheet" r:id="rId6" imgW="4648200" imgH="125730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7809" y="396995"/>
                        <a:ext cx="2562225" cy="1047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0106353" y="2429564"/>
          <a:ext cx="2562225" cy="712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987800" imgH="8547100" progId="Excel.Sheet.12">
                  <p:embed/>
                </p:oleObj>
              </mc:Choice>
              <mc:Fallback>
                <p:oleObj name="Worksheet" r:id="rId8" imgW="3987800" imgH="8547100" progId="Excel.Sheet.12">
                  <p:embed/>
                  <p:pic>
                    <p:nvPicPr>
                      <p:cNvPr id="11" name="Object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106353" y="2429564"/>
                        <a:ext cx="2562225" cy="712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101" y="0"/>
            <a:ext cx="237899" cy="9234488"/>
            <a:chOff x="0" y="0"/>
            <a:chExt cx="62657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57" cy="2432128"/>
            </a:xfrm>
            <a:custGeom>
              <a:avLst/>
              <a:gdLst/>
              <a:ahLst/>
              <a:cxnLst/>
              <a:rect l="l" t="t" r="r" b="b"/>
              <a:pathLst>
                <a:path w="62657" h="2432128">
                  <a:moveTo>
                    <a:pt x="0" y="0"/>
                  </a:moveTo>
                  <a:lnTo>
                    <a:pt x="62657" y="0"/>
                  </a:lnTo>
                  <a:lnTo>
                    <a:pt x="62657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62657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6228599" y="569576"/>
            <a:ext cx="6725217" cy="4047667"/>
          </a:xfrm>
          <a:custGeom>
            <a:avLst/>
            <a:gdLst/>
            <a:ahLst/>
            <a:cxnLst/>
            <a:rect l="l" t="t" r="r" b="b"/>
            <a:pathLst>
              <a:path w="6725217" h="4047667">
                <a:moveTo>
                  <a:pt x="0" y="0"/>
                </a:moveTo>
                <a:lnTo>
                  <a:pt x="6725217" y="0"/>
                </a:lnTo>
                <a:lnTo>
                  <a:pt x="6725217" y="4047668"/>
                </a:lnTo>
                <a:lnTo>
                  <a:pt x="0" y="4047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0" y="850471"/>
            <a:ext cx="6228599" cy="3743786"/>
          </a:xfrm>
          <a:custGeom>
            <a:avLst/>
            <a:gdLst/>
            <a:ahLst/>
            <a:cxnLst/>
            <a:rect l="l" t="t" r="r" b="b"/>
            <a:pathLst>
              <a:path w="6228599" h="3743786">
                <a:moveTo>
                  <a:pt x="0" y="0"/>
                </a:moveTo>
                <a:lnTo>
                  <a:pt x="6228599" y="0"/>
                </a:lnTo>
                <a:lnTo>
                  <a:pt x="6228599" y="3743786"/>
                </a:lnTo>
                <a:lnTo>
                  <a:pt x="0" y="3743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0" y="4594257"/>
            <a:ext cx="7720029" cy="4640230"/>
          </a:xfrm>
          <a:custGeom>
            <a:avLst/>
            <a:gdLst/>
            <a:ahLst/>
            <a:cxnLst/>
            <a:rect l="l" t="t" r="r" b="b"/>
            <a:pathLst>
              <a:path w="7720029" h="4640230">
                <a:moveTo>
                  <a:pt x="0" y="0"/>
                </a:moveTo>
                <a:lnTo>
                  <a:pt x="7720029" y="0"/>
                </a:lnTo>
                <a:lnTo>
                  <a:pt x="7720029" y="4640231"/>
                </a:lnTo>
                <a:lnTo>
                  <a:pt x="0" y="4640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7720029" y="4594257"/>
            <a:ext cx="8203896" cy="4931065"/>
          </a:xfrm>
          <a:custGeom>
            <a:avLst/>
            <a:gdLst/>
            <a:ahLst/>
            <a:cxnLst/>
            <a:rect l="l" t="t" r="r" b="b"/>
            <a:pathLst>
              <a:path w="8203896" h="4931065">
                <a:moveTo>
                  <a:pt x="0" y="0"/>
                </a:moveTo>
                <a:lnTo>
                  <a:pt x="8203896" y="0"/>
                </a:lnTo>
                <a:lnTo>
                  <a:pt x="8203896" y="4931065"/>
                </a:lnTo>
                <a:lnTo>
                  <a:pt x="0" y="49310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TextBox 10"/>
          <p:cNvSpPr txBox="1"/>
          <p:nvPr/>
        </p:nvSpPr>
        <p:spPr>
          <a:xfrm>
            <a:off x="13620517" y="123825"/>
            <a:ext cx="6617650" cy="82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239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Mid-age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3816" y="921544"/>
            <a:ext cx="4868428" cy="369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streamed platform:Spotify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streamed platform:Apple Music and Pandora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Mostly preferred while working:Yes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hrs spend:2 hrs and 3 hrs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preffered genre:Rock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preffered genre:EDM,Video game music,Country,R&amp;B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(hiphop,rap,kpop,jazz,lofi,latin,gospel-none)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9234488"/>
            <a:chOff x="0" y="0"/>
            <a:chExt cx="270933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432128"/>
            </a:xfrm>
            <a:custGeom>
              <a:avLst/>
              <a:gdLst/>
              <a:ahLst/>
              <a:cxnLst/>
              <a:rect l="l" t="t" r="r" b="b"/>
              <a:pathLst>
                <a:path w="270933" h="2432128">
                  <a:moveTo>
                    <a:pt x="0" y="0"/>
                  </a:moveTo>
                  <a:lnTo>
                    <a:pt x="270933" y="0"/>
                  </a:lnTo>
                  <a:lnTo>
                    <a:pt x="270933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-354593" y="3364944"/>
            <a:ext cx="172593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 flipV="1">
            <a:off x="9144000" y="-515253"/>
            <a:ext cx="4762" cy="975450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8" name="Object 8"/>
          <p:cNvGraphicFramePr/>
          <p:nvPr/>
        </p:nvGraphicFramePr>
        <p:xfrm>
          <a:off x="4651729" y="190500"/>
          <a:ext cx="32670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924300" imgH="3581400" progId="Excel.Sheet.12">
                  <p:embed/>
                </p:oleObj>
              </mc:Choice>
              <mc:Fallback>
                <p:oleObj name="Worksheet" r:id="rId2" imgW="3924300" imgH="3581400" progId="Excel.Sheet.12">
                  <p:embed/>
                  <p:pic>
                    <p:nvPicPr>
                      <p:cNvPr id="8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51729" y="190500"/>
                        <a:ext cx="3267075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1496893" y="1028700"/>
          <a:ext cx="268605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213100" imgH="1790700" progId="Excel.Sheet.12">
                  <p:embed/>
                </p:oleObj>
              </mc:Choice>
              <mc:Fallback>
                <p:oleObj name="Worksheet" r:id="rId4" imgW="3213100" imgH="17907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96893" y="1028700"/>
                        <a:ext cx="268605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028700" y="3448933"/>
          <a:ext cx="2686050" cy="544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771900" imgH="6527800" progId="Excel.Sheet.12">
                  <p:embed/>
                </p:oleObj>
              </mc:Choice>
              <mc:Fallback>
                <p:oleObj name="Worksheet" r:id="rId6" imgW="3771900" imgH="65278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8700" y="3448933"/>
                        <a:ext cx="2686050" cy="544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0682505" y="3712210"/>
          <a:ext cx="268605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517900" imgH="5029200" progId="Excel.Sheet.12">
                  <p:embed/>
                </p:oleObj>
              </mc:Choice>
              <mc:Fallback>
                <p:oleObj name="Worksheet" r:id="rId8" imgW="3517900" imgH="5029200" progId="Excel.Sheet.12">
                  <p:embed/>
                  <p:pic>
                    <p:nvPicPr>
                      <p:cNvPr id="11" name="Object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682505" y="3712210"/>
                        <a:ext cx="2686050" cy="419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101" y="0"/>
            <a:ext cx="237899" cy="9234488"/>
            <a:chOff x="0" y="0"/>
            <a:chExt cx="62657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57" cy="2432128"/>
            </a:xfrm>
            <a:custGeom>
              <a:avLst/>
              <a:gdLst/>
              <a:ahLst/>
              <a:cxnLst/>
              <a:rect l="l" t="t" r="r" b="b"/>
              <a:pathLst>
                <a:path w="62657" h="2432128">
                  <a:moveTo>
                    <a:pt x="0" y="0"/>
                  </a:moveTo>
                  <a:lnTo>
                    <a:pt x="62657" y="0"/>
                  </a:lnTo>
                  <a:lnTo>
                    <a:pt x="62657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62657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6136267" y="1227966"/>
            <a:ext cx="6710854" cy="4039023"/>
          </a:xfrm>
          <a:custGeom>
            <a:avLst/>
            <a:gdLst/>
            <a:ahLst/>
            <a:cxnLst/>
            <a:rect l="l" t="t" r="r" b="b"/>
            <a:pathLst>
              <a:path w="6710854" h="4039023">
                <a:moveTo>
                  <a:pt x="0" y="0"/>
                </a:moveTo>
                <a:lnTo>
                  <a:pt x="6710854" y="0"/>
                </a:lnTo>
                <a:lnTo>
                  <a:pt x="6710854" y="4039023"/>
                </a:lnTo>
                <a:lnTo>
                  <a:pt x="0" y="4039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0" y="1307440"/>
            <a:ext cx="6136267" cy="3745834"/>
          </a:xfrm>
          <a:custGeom>
            <a:avLst/>
            <a:gdLst/>
            <a:ahLst/>
            <a:cxnLst/>
            <a:rect l="l" t="t" r="r" b="b"/>
            <a:pathLst>
              <a:path w="6136267" h="3745834">
                <a:moveTo>
                  <a:pt x="0" y="0"/>
                </a:moveTo>
                <a:lnTo>
                  <a:pt x="6136267" y="0"/>
                </a:lnTo>
                <a:lnTo>
                  <a:pt x="6136267" y="3745833"/>
                </a:lnTo>
                <a:lnTo>
                  <a:pt x="0" y="3745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0" y="5053273"/>
            <a:ext cx="6880983" cy="4135910"/>
          </a:xfrm>
          <a:custGeom>
            <a:avLst/>
            <a:gdLst/>
            <a:ahLst/>
            <a:cxnLst/>
            <a:rect l="l" t="t" r="r" b="b"/>
            <a:pathLst>
              <a:path w="6880983" h="4135910">
                <a:moveTo>
                  <a:pt x="0" y="0"/>
                </a:moveTo>
                <a:lnTo>
                  <a:pt x="6880983" y="0"/>
                </a:lnTo>
                <a:lnTo>
                  <a:pt x="6880983" y="4135910"/>
                </a:lnTo>
                <a:lnTo>
                  <a:pt x="0" y="4135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TextBox 9"/>
          <p:cNvSpPr txBox="1"/>
          <p:nvPr/>
        </p:nvSpPr>
        <p:spPr>
          <a:xfrm>
            <a:off x="8641356" y="316996"/>
            <a:ext cx="6617650" cy="82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239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Senior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61641" y="704493"/>
            <a:ext cx="4973939" cy="4894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streamed platform:Youtube Music and other streaming service</a:t>
            </a:r>
          </a:p>
          <a:p>
            <a:pPr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streamed platform:Pandora and Apple Music</a:t>
            </a:r>
          </a:p>
          <a:p>
            <a:pPr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Mostly preferred while working:Yes</a:t>
            </a:r>
          </a:p>
          <a:p>
            <a:pPr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hrs spend:2hrs</a:t>
            </a:r>
          </a:p>
          <a:p>
            <a:pPr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preffered genre:Rock</a:t>
            </a:r>
          </a:p>
          <a:p>
            <a:pPr marL="0" lvl="0" indent="0" algn="l">
              <a:lnSpc>
                <a:spcPts val="3312"/>
              </a:lnSpc>
            </a:pPr>
            <a:r>
              <a:rPr lang="en-US" sz="2208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preffered genre:Classical,Hiphop,Jazz</a:t>
            </a:r>
          </a:p>
          <a:p>
            <a:pPr marL="0" lvl="0" indent="0" algn="l">
              <a:lnSpc>
                <a:spcPts val="3312"/>
              </a:lnSpc>
            </a:pPr>
            <a:r>
              <a:rPr lang="en-US" sz="2208" u="none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(EDM,Video game music,Country,</a:t>
            </a:r>
          </a:p>
          <a:p>
            <a:pPr marL="0" lvl="0" indent="0" algn="l">
              <a:lnSpc>
                <a:spcPts val="3312"/>
              </a:lnSpc>
            </a:pPr>
            <a:r>
              <a:rPr lang="en-US" sz="2208" u="none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Rap,Kpop,Lofi,Latin,Folk,Metal-none)</a:t>
            </a:r>
          </a:p>
          <a:p>
            <a:pPr marL="0" lvl="0" indent="0" algn="l">
              <a:lnSpc>
                <a:spcPts val="3312"/>
              </a:lnSpc>
            </a:pPr>
            <a:endParaRPr lang="en-US" sz="2208" u="none">
              <a:solidFill>
                <a:srgbClr val="2E2E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880983" y="5266989"/>
            <a:ext cx="6454696" cy="3879684"/>
          </a:xfrm>
          <a:custGeom>
            <a:avLst/>
            <a:gdLst/>
            <a:ahLst/>
            <a:cxnLst/>
            <a:rect l="l" t="t" r="r" b="b"/>
            <a:pathLst>
              <a:path w="6454696" h="3879684">
                <a:moveTo>
                  <a:pt x="0" y="0"/>
                </a:moveTo>
                <a:lnTo>
                  <a:pt x="6454696" y="0"/>
                </a:lnTo>
                <a:lnTo>
                  <a:pt x="6454696" y="3879684"/>
                </a:lnTo>
                <a:lnTo>
                  <a:pt x="0" y="3879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9234488"/>
            <a:chOff x="0" y="0"/>
            <a:chExt cx="270933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432128"/>
            </a:xfrm>
            <a:custGeom>
              <a:avLst/>
              <a:gdLst/>
              <a:ahLst/>
              <a:cxnLst/>
              <a:rect l="l" t="t" r="r" b="b"/>
              <a:pathLst>
                <a:path w="270933" h="2432128">
                  <a:moveTo>
                    <a:pt x="0" y="0"/>
                  </a:moveTo>
                  <a:lnTo>
                    <a:pt x="270933" y="0"/>
                  </a:lnTo>
                  <a:lnTo>
                    <a:pt x="270933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0" y="5133975"/>
            <a:ext cx="172593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 rot="-5400000">
            <a:off x="4519612" y="4614862"/>
            <a:ext cx="923925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8" name="Object 8"/>
          <p:cNvGraphicFramePr/>
          <p:nvPr/>
        </p:nvGraphicFramePr>
        <p:xfrm>
          <a:off x="2287523" y="1028700"/>
          <a:ext cx="32289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73500" imgH="3581400" progId="Excel.Sheet.12">
                  <p:embed/>
                </p:oleObj>
              </mc:Choice>
              <mc:Fallback>
                <p:oleObj name="Worksheet" r:id="rId2" imgW="3873500" imgH="3581400" progId="Excel.Sheet.12">
                  <p:embed/>
                  <p:pic>
                    <p:nvPicPr>
                      <p:cNvPr id="8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7523" y="1028700"/>
                        <a:ext cx="3228975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1399995" y="1440374"/>
          <a:ext cx="25908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098800" imgH="1765300" progId="Excel.Sheet.12">
                  <p:embed/>
                </p:oleObj>
              </mc:Choice>
              <mc:Fallback>
                <p:oleObj name="Worksheet" r:id="rId4" imgW="3098800" imgH="17653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399995" y="1440374"/>
                        <a:ext cx="25908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2287523" y="5669191"/>
          <a:ext cx="25908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098800" imgH="3022600" progId="Excel.Sheet.12">
                  <p:embed/>
                </p:oleObj>
              </mc:Choice>
              <mc:Fallback>
                <p:oleObj name="Worksheet" r:id="rId6" imgW="3098800" imgH="30226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87523" y="5669191"/>
                        <a:ext cx="2590800" cy="2514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1906250" y="5512594"/>
          <a:ext cx="25908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251200" imgH="4013200" progId="Excel.Sheet.12">
                  <p:embed/>
                </p:oleObj>
              </mc:Choice>
              <mc:Fallback>
                <p:oleObj name="Worksheet" r:id="rId8" imgW="3251200" imgH="4013200" progId="Excel.Sheet.12">
                  <p:embed/>
                  <p:pic>
                    <p:nvPicPr>
                      <p:cNvPr id="11" name="Object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906250" y="5512594"/>
                        <a:ext cx="2590800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050101" y="0"/>
            <a:ext cx="237899" cy="9234488"/>
            <a:chOff x="0" y="0"/>
            <a:chExt cx="62657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57" cy="2432128"/>
            </a:xfrm>
            <a:custGeom>
              <a:avLst/>
              <a:gdLst/>
              <a:ahLst/>
              <a:cxnLst/>
              <a:rect l="l" t="t" r="r" b="b"/>
              <a:pathLst>
                <a:path w="62657" h="2432128">
                  <a:moveTo>
                    <a:pt x="0" y="0"/>
                  </a:moveTo>
                  <a:lnTo>
                    <a:pt x="62657" y="0"/>
                  </a:lnTo>
                  <a:lnTo>
                    <a:pt x="62657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62657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Freeform 6"/>
          <p:cNvSpPr/>
          <p:nvPr/>
        </p:nvSpPr>
        <p:spPr>
          <a:xfrm>
            <a:off x="7245842" y="4887840"/>
            <a:ext cx="7116701" cy="4277591"/>
          </a:xfrm>
          <a:custGeom>
            <a:avLst/>
            <a:gdLst/>
            <a:ahLst/>
            <a:cxnLst/>
            <a:rect l="l" t="t" r="r" b="b"/>
            <a:pathLst>
              <a:path w="7116701" h="4277591">
                <a:moveTo>
                  <a:pt x="0" y="0"/>
                </a:moveTo>
                <a:lnTo>
                  <a:pt x="7116701" y="0"/>
                </a:lnTo>
                <a:lnTo>
                  <a:pt x="7116701" y="4277591"/>
                </a:lnTo>
                <a:lnTo>
                  <a:pt x="0" y="427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7" name="Freeform 7"/>
          <p:cNvSpPr/>
          <p:nvPr/>
        </p:nvSpPr>
        <p:spPr>
          <a:xfrm>
            <a:off x="0" y="902361"/>
            <a:ext cx="6578377" cy="3925947"/>
          </a:xfrm>
          <a:custGeom>
            <a:avLst/>
            <a:gdLst/>
            <a:ahLst/>
            <a:cxnLst/>
            <a:rect l="l" t="t" r="r" b="b"/>
            <a:pathLst>
              <a:path w="6578377" h="3925947">
                <a:moveTo>
                  <a:pt x="0" y="0"/>
                </a:moveTo>
                <a:lnTo>
                  <a:pt x="6578377" y="0"/>
                </a:lnTo>
                <a:lnTo>
                  <a:pt x="6578377" y="3925948"/>
                </a:lnTo>
                <a:lnTo>
                  <a:pt x="0" y="3925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8" name="Freeform 8"/>
          <p:cNvSpPr/>
          <p:nvPr/>
        </p:nvSpPr>
        <p:spPr>
          <a:xfrm>
            <a:off x="-123317" y="4828309"/>
            <a:ext cx="7369159" cy="4392024"/>
          </a:xfrm>
          <a:custGeom>
            <a:avLst/>
            <a:gdLst/>
            <a:ahLst/>
            <a:cxnLst/>
            <a:rect l="l" t="t" r="r" b="b"/>
            <a:pathLst>
              <a:path w="7369159" h="4392024">
                <a:moveTo>
                  <a:pt x="0" y="0"/>
                </a:moveTo>
                <a:lnTo>
                  <a:pt x="7369159" y="0"/>
                </a:lnTo>
                <a:lnTo>
                  <a:pt x="7369159" y="4392024"/>
                </a:lnTo>
                <a:lnTo>
                  <a:pt x="0" y="4392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6"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9" name="Freeform 9"/>
          <p:cNvSpPr/>
          <p:nvPr/>
        </p:nvSpPr>
        <p:spPr>
          <a:xfrm>
            <a:off x="6578377" y="1246350"/>
            <a:ext cx="6058407" cy="3641490"/>
          </a:xfrm>
          <a:custGeom>
            <a:avLst/>
            <a:gdLst/>
            <a:ahLst/>
            <a:cxnLst/>
            <a:rect l="l" t="t" r="r" b="b"/>
            <a:pathLst>
              <a:path w="6058407" h="3641490">
                <a:moveTo>
                  <a:pt x="0" y="0"/>
                </a:moveTo>
                <a:lnTo>
                  <a:pt x="6058407" y="0"/>
                </a:lnTo>
                <a:lnTo>
                  <a:pt x="6058407" y="3641490"/>
                </a:lnTo>
                <a:lnTo>
                  <a:pt x="0" y="36414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AE"/>
          </a:p>
        </p:txBody>
      </p:sp>
      <p:sp>
        <p:nvSpPr>
          <p:cNvPr id="10" name="TextBox 10"/>
          <p:cNvSpPr txBox="1"/>
          <p:nvPr/>
        </p:nvSpPr>
        <p:spPr>
          <a:xfrm>
            <a:off x="9005414" y="223414"/>
            <a:ext cx="6617650" cy="825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239">
                <a:solidFill>
                  <a:srgbClr val="2E2E2E"/>
                </a:solidFill>
                <a:latin typeface="Black Mango"/>
                <a:ea typeface="Black Mango"/>
                <a:cs typeface="Black Mango"/>
                <a:sym typeface="Black Mango"/>
              </a:rPr>
              <a:t>Elderly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50712" y="550069"/>
            <a:ext cx="5185461" cy="406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streamed platform:Doesnt use streaming service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streamed platform:Other streaming service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Mostly preferred while working:Yes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hrs spend:2hrs</a:t>
            </a:r>
          </a:p>
          <a:p>
            <a:pPr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Most preffered genre:Rock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Least preffered genre:Jazz,Country,Pop,Rap</a:t>
            </a:r>
          </a:p>
          <a:p>
            <a:pPr marL="0" lvl="0" indent="0" algn="l">
              <a:lnSpc>
                <a:spcPts val="2999"/>
              </a:lnSpc>
            </a:pPr>
            <a:r>
              <a:rPr lang="en-US" sz="1999" u="none">
                <a:solidFill>
                  <a:srgbClr val="2E2E2E"/>
                </a:solidFill>
                <a:latin typeface="Open Sauce"/>
                <a:ea typeface="Open Sauce"/>
                <a:cs typeface="Open Sauce"/>
                <a:sym typeface="Open Sauce"/>
              </a:rPr>
              <a:t>(EDM,Video game music,Kpop,Lofi,Latin,Folk,Metal-none)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0"/>
            <a:ext cx="1028700" cy="9234488"/>
            <a:chOff x="0" y="0"/>
            <a:chExt cx="270933" cy="24321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432128"/>
            </a:xfrm>
            <a:custGeom>
              <a:avLst/>
              <a:gdLst/>
              <a:ahLst/>
              <a:cxnLst/>
              <a:rect l="l" t="t" r="r" b="b"/>
              <a:pathLst>
                <a:path w="270933" h="2432128">
                  <a:moveTo>
                    <a:pt x="0" y="0"/>
                  </a:moveTo>
                  <a:lnTo>
                    <a:pt x="270933" y="0"/>
                  </a:lnTo>
                  <a:lnTo>
                    <a:pt x="270933" y="2432128"/>
                  </a:lnTo>
                  <a:lnTo>
                    <a:pt x="0" y="2432128"/>
                  </a:lnTo>
                  <a:close/>
                </a:path>
              </a:pathLst>
            </a:custGeom>
            <a:solidFill>
              <a:srgbClr val="A38867"/>
            </a:solidFill>
          </p:spPr>
          <p:txBody>
            <a:bodyPr/>
            <a:lstStyle/>
            <a:p>
              <a:endParaRPr lang="en-A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19075"/>
              <a:ext cx="270933" cy="26512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4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0" y="9234488"/>
            <a:ext cx="182880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6" name="AutoShape 6"/>
          <p:cNvSpPr/>
          <p:nvPr/>
        </p:nvSpPr>
        <p:spPr>
          <a:xfrm>
            <a:off x="-66030" y="4167188"/>
            <a:ext cx="172593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sp>
        <p:nvSpPr>
          <p:cNvPr id="7" name="AutoShape 7"/>
          <p:cNvSpPr/>
          <p:nvPr/>
        </p:nvSpPr>
        <p:spPr>
          <a:xfrm rot="-5400000">
            <a:off x="4519612" y="4614862"/>
            <a:ext cx="923925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AE"/>
          </a:p>
        </p:txBody>
      </p:sp>
      <p:graphicFrame>
        <p:nvGraphicFramePr>
          <p:cNvPr id="8" name="Object 8"/>
          <p:cNvGraphicFramePr/>
          <p:nvPr/>
        </p:nvGraphicFramePr>
        <p:xfrm>
          <a:off x="2348379" y="778510"/>
          <a:ext cx="3181350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810000" imgH="3568700" progId="Excel.Sheet.12">
                  <p:embed/>
                </p:oleObj>
              </mc:Choice>
              <mc:Fallback>
                <p:oleObj name="Worksheet" r:id="rId2" imgW="3810000" imgH="3568700" progId="Excel.Sheet.12">
                  <p:embed/>
                  <p:pic>
                    <p:nvPicPr>
                      <p:cNvPr id="8" name="Object 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48379" y="778510"/>
                        <a:ext cx="3181350" cy="293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/>
          <p:nvPr/>
        </p:nvGraphicFramePr>
        <p:xfrm>
          <a:off x="11475033" y="1133475"/>
          <a:ext cx="27051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3238500" imgH="1790700" progId="Excel.Sheet.12">
                  <p:embed/>
                </p:oleObj>
              </mc:Choice>
              <mc:Fallback>
                <p:oleObj name="Worksheet" r:id="rId4" imgW="3238500" imgH="1790700" progId="Excel.Sheet.12">
                  <p:embed/>
                  <p:pic>
                    <p:nvPicPr>
                      <p:cNvPr id="9" name="Object 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75033" y="1133475"/>
                        <a:ext cx="2705100" cy="1257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/>
          <p:nvPr/>
        </p:nvGraphicFramePr>
        <p:xfrm>
          <a:off x="1590675" y="4319588"/>
          <a:ext cx="2705100" cy="461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3619500" imgH="5524500" progId="Excel.Sheet.12">
                  <p:embed/>
                </p:oleObj>
              </mc:Choice>
              <mc:Fallback>
                <p:oleObj name="Worksheet" r:id="rId6" imgW="3619500" imgH="5524500" progId="Excel.Sheet.12">
                  <p:embed/>
                  <p:pic>
                    <p:nvPicPr>
                      <p:cNvPr id="10" name="Object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90675" y="4319588"/>
                        <a:ext cx="2705100" cy="461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/>
          <p:nvPr/>
        </p:nvGraphicFramePr>
        <p:xfrm>
          <a:off x="11211466" y="4617244"/>
          <a:ext cx="2619375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3365500" imgH="4521200" progId="Excel.Sheet.12">
                  <p:embed/>
                </p:oleObj>
              </mc:Choice>
              <mc:Fallback>
                <p:oleObj name="Worksheet" r:id="rId8" imgW="3365500" imgH="4521200" progId="Excel.Sheet.12">
                  <p:embed/>
                  <p:pic>
                    <p:nvPicPr>
                      <p:cNvPr id="11" name="Object 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211466" y="4617244"/>
                        <a:ext cx="2619375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268</Words>
  <Application>Microsoft Office PowerPoint</Application>
  <PresentationFormat>Custom</PresentationFormat>
  <Paragraphs>44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Sauce Bold</vt:lpstr>
      <vt:lpstr>Black Mango</vt:lpstr>
      <vt:lpstr>Arial</vt:lpstr>
      <vt:lpstr>Open Sauce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Adults</dc:title>
  <cp:lastModifiedBy>Suja Varkey</cp:lastModifiedBy>
  <cp:revision>1</cp:revision>
  <dcterms:created xsi:type="dcterms:W3CDTF">2006-08-16T00:00:00Z</dcterms:created>
  <dcterms:modified xsi:type="dcterms:W3CDTF">2026-08-28T10:09:25Z</dcterms:modified>
  <dc:identifier>DAGtP8Ma5CE</dc:identifier>
</cp:coreProperties>
</file>